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DARK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LIGHT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istema-PUMA/dfac1cc1-db02-5db8-bb7e-3953c2de29d6/scratchpad/deck/img/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0"/>
            <a:ext cx="60194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23560" y="0"/>
            <a:ext cx="9144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4" name="Shape 1"/>
          <p:cNvSpPr/>
          <p:nvPr/>
        </p:nvSpPr>
        <p:spPr>
          <a:xfrm>
            <a:off x="5623560" y="0"/>
            <a:ext cx="9144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0" y="0"/>
            <a:ext cx="91440" cy="6858000"/>
          </a:xfrm>
          <a:prstGeom prst="rect">
            <a:avLst/>
          </a:prstGeom>
          <a:solidFill>
            <a:srgbClr val="0B1220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806440" y="0"/>
            <a:ext cx="91440" cy="6858000"/>
          </a:xfrm>
          <a:prstGeom prst="rect">
            <a:avLst/>
          </a:prstGeom>
          <a:solidFill>
            <a:srgbClr val="0B1220">
              <a:alpha val="8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897880" y="0"/>
            <a:ext cx="91440" cy="6858000"/>
          </a:xfrm>
          <a:prstGeom prst="rect">
            <a:avLst/>
          </a:prstGeom>
          <a:solidFill>
            <a:srgbClr val="0B1220">
              <a:alpha val="7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989320" y="0"/>
            <a:ext cx="91440" cy="6858000"/>
          </a:xfrm>
          <a:prstGeom prst="rect">
            <a:avLst/>
          </a:prstGeom>
          <a:solidFill>
            <a:srgbClr val="0B1220">
              <a:alpha val="6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080760" y="0"/>
            <a:ext cx="91440" cy="6858000"/>
          </a:xfrm>
          <a:prstGeom prst="rect">
            <a:avLst/>
          </a:prstGeom>
          <a:solidFill>
            <a:srgbClr val="0B1220">
              <a:alpha val="5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172200" y="0"/>
            <a:ext cx="91440" cy="6858000"/>
          </a:xfrm>
          <a:prstGeom prst="rect">
            <a:avLst/>
          </a:prstGeom>
          <a:solidFill>
            <a:srgbClr val="0B1220">
              <a:alpha val="4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263640" y="0"/>
            <a:ext cx="91440" cy="6858000"/>
          </a:xfrm>
          <a:prstGeom prst="rect">
            <a:avLst/>
          </a:prstGeom>
          <a:solidFill>
            <a:srgbClr val="0B1220">
              <a:alpha val="3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355080" y="0"/>
            <a:ext cx="91440" cy="6858000"/>
          </a:xfrm>
          <a:prstGeom prst="rect">
            <a:avLst/>
          </a:prstGeom>
          <a:solidFill>
            <a:srgbClr val="0B1220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446520" y="0"/>
            <a:ext cx="91440" cy="6858000"/>
          </a:xfrm>
          <a:prstGeom prst="rect">
            <a:avLst/>
          </a:prstGeom>
          <a:solidFill>
            <a:srgbClr val="0B1220">
              <a:alpha val="1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ACADEMIA MILITAR A QUALQUER SALA DE AULA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1783080"/>
            <a:ext cx="5349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Simulados ao vivo, </a:t>
            </a:r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Inteligência Artificial</a:t>
            </a:r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</a:t>
            </a:r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gamificação</a:t>
            </a:r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para elevar o desempenho da sua turma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40080" y="45262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proposta comercial para levar, à sua instituição de ensino, a mesma plataforma comprovada em campo pelo 32º Pelotão PUMA — Curso de Formação da Polícia Militar do Ceará.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5806440"/>
            <a:ext cx="128016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5943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Comercial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DE HOJE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Preparar turmas de alta exigência ficou mais difícil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258568"/>
            <a:ext cx="502920" cy="50292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70" dirty="0"/>
          </a:p>
        </p:txBody>
      </p:sp>
      <p:sp>
        <p:nvSpPr>
          <p:cNvPr id="7" name="Text 5"/>
          <p:cNvSpPr/>
          <p:nvPr/>
        </p:nvSpPr>
        <p:spPr>
          <a:xfrm>
            <a:off x="896112" y="292608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Engajamento em queda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96112" y="3611880"/>
            <a:ext cx="20939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expositivas e listas de exercícios estáticas perdem a atenção de turmas acostumadas a estímulos rápidos e interativos.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196596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58184" y="2258568"/>
            <a:ext cx="502920" cy="50292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1" name="Text 9"/>
          <p:cNvSpPr/>
          <p:nvPr/>
        </p:nvSpPr>
        <p:spPr>
          <a:xfrm>
            <a:off x="3758184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70" dirty="0"/>
          </a:p>
        </p:txBody>
      </p:sp>
      <p:sp>
        <p:nvSpPr>
          <p:cNvPr id="12" name="Text 10"/>
          <p:cNvSpPr/>
          <p:nvPr/>
        </p:nvSpPr>
        <p:spPr>
          <a:xfrm>
            <a:off x="3758184" y="292608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Correção manual e lenta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758184" y="3611880"/>
            <a:ext cx="20939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Instrutores gastam horas corrigindo simulados e montando relatórios de desempenho em planilhas.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64224" y="196596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20256" y="2258568"/>
            <a:ext cx="502920" cy="50292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6" name="Text 14"/>
          <p:cNvSpPr/>
          <p:nvPr/>
        </p:nvSpPr>
        <p:spPr>
          <a:xfrm>
            <a:off x="6620256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70" dirty="0"/>
          </a:p>
        </p:txBody>
      </p:sp>
      <p:sp>
        <p:nvSpPr>
          <p:cNvPr id="17" name="Text 15"/>
          <p:cNvSpPr/>
          <p:nvPr/>
        </p:nvSpPr>
        <p:spPr>
          <a:xfrm>
            <a:off x="6620256" y="292608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sem dados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620256" y="3611880"/>
            <a:ext cx="20939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métricas em tempo real, é difícil identificar quem está travando e em qual conteúdo, a tempo de agir.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26296" y="196596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82328" y="2258568"/>
            <a:ext cx="502920" cy="50292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9482328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70" dirty="0"/>
          </a:p>
        </p:txBody>
      </p:sp>
      <p:sp>
        <p:nvSpPr>
          <p:cNvPr id="22" name="Text 20"/>
          <p:cNvSpPr/>
          <p:nvPr/>
        </p:nvSpPr>
        <p:spPr>
          <a:xfrm>
            <a:off x="9482328" y="292608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Pressão da prova real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482328" y="3611880"/>
            <a:ext cx="20939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Concursos e avaliações de alto nível exigem treino sob tempo e estresse — algo que o papel não simula.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PUMA  •  PLATAFORMA EDUCACIONAL TÁTICA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plataforma completa, já validada em campo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PUMA nasceu para o treinamento tático da PMCE e reúne, em uma única plataforma web, tudo que uma instituição de ensino precisa para transformar simulados em experiências vivas.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121B2E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414016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28" dirty="0"/>
          </a:p>
        </p:txBody>
      </p:sp>
      <p:sp>
        <p:nvSpPr>
          <p:cNvPr id="8" name="Text 6"/>
          <p:cNvSpPr/>
          <p:nvPr/>
        </p:nvSpPr>
        <p:spPr>
          <a:xfrm>
            <a:off x="1353312" y="235915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Salas ao vivo em tempo real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2871216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9FB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instrutor comanda a turma como um mestre de sala: avança questões, pausa, anula itens e projeta o gabarito instantaneamente via WebSockets.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52544" y="2212848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121B2E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2414016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28" dirty="0"/>
          </a:p>
        </p:txBody>
      </p:sp>
      <p:sp>
        <p:nvSpPr>
          <p:cNvPr id="13" name="Text 11"/>
          <p:cNvSpPr/>
          <p:nvPr/>
        </p:nvSpPr>
        <p:spPr>
          <a:xfrm>
            <a:off x="5065776" y="235915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generativa de questões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53712" y="2871216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9FB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enviar um PDF (apostila, lei, manual) para a IA gerar simulados completos com gabarito e justificativa técnica.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65008" y="2212848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121B2E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6176" y="2414016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8266176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28" dirty="0"/>
          </a:p>
        </p:txBody>
      </p:sp>
      <p:sp>
        <p:nvSpPr>
          <p:cNvPr id="18" name="Text 16"/>
          <p:cNvSpPr/>
          <p:nvPr/>
        </p:nvSpPr>
        <p:spPr>
          <a:xfrm>
            <a:off x="8778240" y="235915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Gamificação e engajamento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66176" y="2871216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9FB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Sequências (streaks), rankings, medalhas e temas visuais desbloqueáveis mantêm o aluno voltando todos os dias.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913632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121B2E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114800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28" dirty="0"/>
          </a:p>
        </p:txBody>
      </p:sp>
      <p:sp>
        <p:nvSpPr>
          <p:cNvPr id="23" name="Text 21"/>
          <p:cNvSpPr/>
          <p:nvPr/>
        </p:nvSpPr>
        <p:spPr>
          <a:xfrm>
            <a:off x="1353312" y="405993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e relatórios automáticos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" y="4572000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9FB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e relatórios em PDF comprovam, com dados, a evolução de cada aluno e da turma inteira.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52544" y="3913632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121B2E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3712" y="4114800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7" name="Text 25"/>
          <p:cNvSpPr/>
          <p:nvPr/>
        </p:nvSpPr>
        <p:spPr>
          <a:xfrm>
            <a:off x="4553712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28" dirty="0"/>
          </a:p>
        </p:txBody>
      </p:sp>
      <p:sp>
        <p:nvSpPr>
          <p:cNvPr id="28" name="Text 26"/>
          <p:cNvSpPr/>
          <p:nvPr/>
        </p:nvSpPr>
        <p:spPr>
          <a:xfrm>
            <a:off x="5065776" y="405993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 de estudos com IA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53712" y="4572000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9FB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chat inteligente tira dúvidas dos alunos com base no conteúdo oficial do material didático cadastrado.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65008" y="3913632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121B2E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66176" y="4114800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2" name="Text 30"/>
          <p:cNvSpPr/>
          <p:nvPr/>
        </p:nvSpPr>
        <p:spPr>
          <a:xfrm>
            <a:off x="8266176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28" dirty="0"/>
          </a:p>
        </p:txBody>
      </p:sp>
      <p:sp>
        <p:nvSpPr>
          <p:cNvPr id="33" name="Text 31"/>
          <p:cNvSpPr/>
          <p:nvPr/>
        </p:nvSpPr>
        <p:spPr>
          <a:xfrm>
            <a:off x="8778240" y="405993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administrativa completa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66176" y="4572000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9FB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turmas, controle de patrimônio, histórico de acessos e muito mais em um único painel.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PUMA  •  PLATAFORMA EDUCACIONAL TÁTICA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COMPROVADO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real: 32º Pelotão PUMA — CFSD PMCE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está em uso ativo na preparação de recrutas da Polícia Militar do Ceará, substituindo listas de exercícios em papel por um ambiente competitivo, mensurável e motivador.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121B2E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963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automática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simulados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02152" y="233172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121B2E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24963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real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39312" y="32461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e estatísticas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atualizados ao vivo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64224" y="233172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121B2E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24963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01384" y="32461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de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reação monitorado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226296" y="233172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121B2E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26296" y="24963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dias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363456" y="32461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sequência para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desbloquear conquistas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251960"/>
            <a:ext cx="10908792" cy="1920240"/>
          </a:xfrm>
          <a:prstGeom prst="roundRect">
            <a:avLst>
              <a:gd name="adj" fmla="val 4286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52628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sistema transformou a rotina de estudo do pelotão: os recrutas competem para manter a sequência diária, e nós, instrutores, finalmente enxergamos com precisão onde cada um precisa de reforço.”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Coordenação de Instrução, 32º Pelotão PUMA (CFSD PMCE)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PUMA  •  PLATAFORMA EDUCACIONAL TÁTICA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A PLATAFORMA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Acesso dedicado para instrutores e alunos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perfil tem sua própria porta de entrada — segura, com identidade visual customizável para a marca da sua instituição, do CPF/matrícula do aluno ao painel administrativo do instrutor.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3072384"/>
            <a:ext cx="82296" cy="822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9443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individual por aluno (matrícula/CPF/QRA + senha)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639312"/>
            <a:ext cx="82296" cy="822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35112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exclusivo do instrutor com controle total da turma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82296" cy="822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40782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Redefinição de senha simplificada pelo instrutor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773168"/>
            <a:ext cx="82296" cy="822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46451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claro/escuro e identidade visual configuráveis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0296" y="1051560"/>
            <a:ext cx="3931920" cy="259061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40296" y="1051560"/>
            <a:ext cx="3931920" cy="256032"/>
          </a:xfrm>
          <a:prstGeom prst="roundRect">
            <a:avLst>
              <a:gd name="adj" fmla="val 28571"/>
            </a:avLst>
          </a:prstGeom>
          <a:solidFill>
            <a:srgbClr val="E7EBF3"/>
          </a:solidFill>
          <a:ln/>
        </p:spPr>
      </p:sp>
      <p:sp>
        <p:nvSpPr>
          <p:cNvPr id="15" name="Shape 13"/>
          <p:cNvSpPr/>
          <p:nvPr/>
        </p:nvSpPr>
        <p:spPr>
          <a:xfrm>
            <a:off x="7050024" y="1133856"/>
            <a:ext cx="91440" cy="91440"/>
          </a:xfrm>
          <a:prstGeom prst="ellipse">
            <a:avLst/>
          </a:prstGeom>
          <a:solidFill>
            <a:srgbClr val="E2685C"/>
          </a:solidFill>
          <a:ln/>
        </p:spPr>
      </p:sp>
      <p:sp>
        <p:nvSpPr>
          <p:cNvPr id="16" name="Shape 14"/>
          <p:cNvSpPr/>
          <p:nvPr/>
        </p:nvSpPr>
        <p:spPr>
          <a:xfrm>
            <a:off x="7214616" y="1133856"/>
            <a:ext cx="91440" cy="91440"/>
          </a:xfrm>
          <a:prstGeom prst="ellipse">
            <a:avLst/>
          </a:prstGeom>
          <a:solidFill>
            <a:srgbClr val="E7C24E"/>
          </a:solidFill>
          <a:ln/>
        </p:spPr>
      </p:sp>
      <p:sp>
        <p:nvSpPr>
          <p:cNvPr id="17" name="Shape 15"/>
          <p:cNvSpPr/>
          <p:nvPr/>
        </p:nvSpPr>
        <p:spPr>
          <a:xfrm>
            <a:off x="7379208" y="1133856"/>
            <a:ext cx="91440" cy="91440"/>
          </a:xfrm>
          <a:prstGeom prst="ellipse">
            <a:avLst/>
          </a:prstGeom>
          <a:solidFill>
            <a:srgbClr val="3FB57E"/>
          </a:solidFill>
          <a:ln/>
        </p:spPr>
      </p:sp>
      <p:pic>
        <p:nvPicPr>
          <p:cNvPr id="18" name="Image 0" descr="/tmp/claude-0/-home-user-Sistema-PUMA/dfac1cc1-db02-5db8-bb7e-3953c2de29d6/scratchpad/deck/img/login_instru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0296" y="1307592"/>
            <a:ext cx="3931920" cy="2334578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940296" y="1051560"/>
            <a:ext cx="3931920" cy="2590610"/>
          </a:xfrm>
          <a:prstGeom prst="roundRect">
            <a:avLst>
              <a:gd name="adj" fmla="val 2824"/>
            </a:avLst>
          </a:prstGeom>
          <a:ln w="12700">
            <a:solidFill>
              <a:srgbClr val="D7DE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40296" y="3825050"/>
            <a:ext cx="3931920" cy="259061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40296" y="3825050"/>
            <a:ext cx="3931920" cy="256032"/>
          </a:xfrm>
          <a:prstGeom prst="roundRect">
            <a:avLst>
              <a:gd name="adj" fmla="val 28571"/>
            </a:avLst>
          </a:prstGeom>
          <a:solidFill>
            <a:srgbClr val="E7EBF3"/>
          </a:solidFill>
          <a:ln/>
        </p:spPr>
      </p:sp>
      <p:sp>
        <p:nvSpPr>
          <p:cNvPr id="22" name="Shape 19"/>
          <p:cNvSpPr/>
          <p:nvPr/>
        </p:nvSpPr>
        <p:spPr>
          <a:xfrm>
            <a:off x="7050024" y="3907346"/>
            <a:ext cx="91440" cy="91440"/>
          </a:xfrm>
          <a:prstGeom prst="ellipse">
            <a:avLst/>
          </a:prstGeom>
          <a:solidFill>
            <a:srgbClr val="E2685C"/>
          </a:solidFill>
          <a:ln/>
        </p:spPr>
      </p:sp>
      <p:sp>
        <p:nvSpPr>
          <p:cNvPr id="23" name="Shape 20"/>
          <p:cNvSpPr/>
          <p:nvPr/>
        </p:nvSpPr>
        <p:spPr>
          <a:xfrm>
            <a:off x="7214616" y="3907346"/>
            <a:ext cx="91440" cy="91440"/>
          </a:xfrm>
          <a:prstGeom prst="ellipse">
            <a:avLst/>
          </a:prstGeom>
          <a:solidFill>
            <a:srgbClr val="E7C24E"/>
          </a:solidFill>
          <a:ln/>
        </p:spPr>
      </p:sp>
      <p:sp>
        <p:nvSpPr>
          <p:cNvPr id="24" name="Shape 21"/>
          <p:cNvSpPr/>
          <p:nvPr/>
        </p:nvSpPr>
        <p:spPr>
          <a:xfrm>
            <a:off x="7379208" y="3907346"/>
            <a:ext cx="91440" cy="91440"/>
          </a:xfrm>
          <a:prstGeom prst="ellipse">
            <a:avLst/>
          </a:prstGeom>
          <a:solidFill>
            <a:srgbClr val="3FB57E"/>
          </a:solidFill>
          <a:ln/>
        </p:spPr>
      </p:sp>
      <p:pic>
        <p:nvPicPr>
          <p:cNvPr id="25" name="Image 1" descr="/tmp/claude-0/-home-user-Sistema-PUMA/dfac1cc1-db02-5db8-bb7e-3953c2de29d6/scratchpad/deck/img/login_alu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296" y="4081082"/>
            <a:ext cx="3931920" cy="233457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6940296" y="3825050"/>
            <a:ext cx="3931920" cy="2590610"/>
          </a:xfrm>
          <a:prstGeom prst="roundRect">
            <a:avLst>
              <a:gd name="adj" fmla="val 2824"/>
            </a:avLst>
          </a:prstGeom>
          <a:ln w="12700">
            <a:solidFill>
              <a:srgbClr val="D7DEE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PUMA  •  PLATAFORMA EDUCACIONAL TÁTICA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 qualquer PDF em simulado, em minutos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806440" cy="4873752"/>
          </a:xfrm>
          <a:prstGeom prst="roundRect">
            <a:avLst>
              <a:gd name="adj" fmla="val 150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806440" cy="256032"/>
          </a:xfrm>
          <a:prstGeom prst="roundRect">
            <a:avLst>
              <a:gd name="adj" fmla="val 28571"/>
            </a:avLst>
          </a:prstGeom>
          <a:solidFill>
            <a:srgbClr val="E7EBF3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682496"/>
            <a:ext cx="91440" cy="91440"/>
          </a:xfrm>
          <a:prstGeom prst="ellipse">
            <a:avLst/>
          </a:prstGeom>
          <a:solidFill>
            <a:srgbClr val="E2685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682496"/>
            <a:ext cx="91440" cy="91440"/>
          </a:xfrm>
          <a:prstGeom prst="ellipse">
            <a:avLst/>
          </a:prstGeom>
          <a:solidFill>
            <a:srgbClr val="E7C24E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1682496"/>
            <a:ext cx="91440" cy="91440"/>
          </a:xfrm>
          <a:prstGeom prst="ellipse">
            <a:avLst/>
          </a:prstGeom>
          <a:solidFill>
            <a:srgbClr val="3FB57E"/>
          </a:solidFill>
          <a:ln/>
        </p:spPr>
      </p:sp>
      <p:pic>
        <p:nvPicPr>
          <p:cNvPr id="9" name="Image 0" descr="/tmp/claude-0/-home-user-Sistema-PUMA/dfac1cc1-db02-5db8-bb7e-3953c2de29d6/scratchpad/deck/img/ia_simul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56232"/>
            <a:ext cx="5806440" cy="46177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1600200"/>
            <a:ext cx="5806440" cy="4873752"/>
          </a:xfrm>
          <a:prstGeom prst="roundRect">
            <a:avLst>
              <a:gd name="adj" fmla="val 1501"/>
            </a:avLst>
          </a:prstGeom>
          <a:ln w="12700">
            <a:solidFill>
              <a:srgbClr val="D7DE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20840" y="1737360"/>
            <a:ext cx="384048" cy="38404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2" name="Text 9"/>
          <p:cNvSpPr/>
          <p:nvPr/>
        </p:nvSpPr>
        <p:spPr>
          <a:xfrm>
            <a:off x="67208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28" dirty="0"/>
          </a:p>
        </p:txBody>
      </p:sp>
      <p:sp>
        <p:nvSpPr>
          <p:cNvPr id="13" name="Text 10"/>
          <p:cNvSpPr/>
          <p:nvPr/>
        </p:nvSpPr>
        <p:spPr>
          <a:xfrm>
            <a:off x="7242048" y="1709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integral do material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42048" y="208483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(Google Gemini) lê apostilas, leis, manuais ou vade mécuns completos, não apenas trechos.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20840" y="2816352"/>
            <a:ext cx="384048" cy="38404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6" name="Text 13"/>
          <p:cNvSpPr/>
          <p:nvPr/>
        </p:nvSpPr>
        <p:spPr>
          <a:xfrm>
            <a:off x="672084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28" dirty="0"/>
          </a:p>
        </p:txBody>
      </p:sp>
      <p:sp>
        <p:nvSpPr>
          <p:cNvPr id="17" name="Text 14"/>
          <p:cNvSpPr/>
          <p:nvPr/>
        </p:nvSpPr>
        <p:spPr>
          <a:xfrm>
            <a:off x="7242048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Questões com justificativa técnica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242048" y="316382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questão é gerada com enunciado, alternativas e explicação fundamentada na doutrina do material.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720840" y="3895344"/>
            <a:ext cx="384048" cy="38404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20" name="Text 17"/>
          <p:cNvSpPr/>
          <p:nvPr/>
        </p:nvSpPr>
        <p:spPr>
          <a:xfrm>
            <a:off x="672084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28" dirty="0"/>
          </a:p>
        </p:txBody>
      </p:sp>
      <p:sp>
        <p:nvSpPr>
          <p:cNvPr id="21" name="Text 18"/>
          <p:cNvSpPr/>
          <p:nvPr/>
        </p:nvSpPr>
        <p:spPr>
          <a:xfrm>
            <a:off x="7242048" y="38679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modos de geração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242048" y="424281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questões novas a partir do conteúdo, ou apenas extraia questões já prontas de um PDF existente.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720840" y="4974336"/>
            <a:ext cx="384048" cy="38404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24" name="Text 21"/>
          <p:cNvSpPr/>
          <p:nvPr/>
        </p:nvSpPr>
        <p:spPr>
          <a:xfrm>
            <a:off x="672084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28" dirty="0"/>
          </a:p>
        </p:txBody>
      </p:sp>
      <p:sp>
        <p:nvSpPr>
          <p:cNvPr id="25" name="Text 22"/>
          <p:cNvSpPr/>
          <p:nvPr/>
        </p:nvSpPr>
        <p:spPr>
          <a:xfrm>
            <a:off x="7242048" y="4946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 total do instrutor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242048" y="532180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quantidade de questões, tempo por questão e tópicos específicos antes de lançar a sala.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PUMA  •  PLATAFORMA EDUCACIONAL TÁTICA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INSTRUTOR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de desempenho, direto ao ponto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de engajamento diário, aproveitamento por módulo e relatórios em PDF gerados por IA — tudo em um único centro de comando, sem planilhas.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483968" y="1965960"/>
            <a:ext cx="7223760" cy="4770882"/>
          </a:xfrm>
          <a:prstGeom prst="roundRect">
            <a:avLst>
              <a:gd name="adj" fmla="val 153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483968" y="1965960"/>
            <a:ext cx="7223760" cy="256032"/>
          </a:xfrm>
          <a:prstGeom prst="roundRect">
            <a:avLst>
              <a:gd name="adj" fmla="val 28571"/>
            </a:avLst>
          </a:prstGeom>
          <a:solidFill>
            <a:srgbClr val="E7EBF3"/>
          </a:solidFill>
          <a:ln/>
        </p:spPr>
      </p:sp>
      <p:sp>
        <p:nvSpPr>
          <p:cNvPr id="7" name="Shape 5"/>
          <p:cNvSpPr/>
          <p:nvPr/>
        </p:nvSpPr>
        <p:spPr>
          <a:xfrm>
            <a:off x="2593696" y="2048256"/>
            <a:ext cx="91440" cy="91440"/>
          </a:xfrm>
          <a:prstGeom prst="ellipse">
            <a:avLst/>
          </a:prstGeom>
          <a:solidFill>
            <a:srgbClr val="E2685C"/>
          </a:solidFill>
          <a:ln/>
        </p:spPr>
      </p:sp>
      <p:sp>
        <p:nvSpPr>
          <p:cNvPr id="8" name="Shape 6"/>
          <p:cNvSpPr/>
          <p:nvPr/>
        </p:nvSpPr>
        <p:spPr>
          <a:xfrm>
            <a:off x="2758288" y="2048256"/>
            <a:ext cx="91440" cy="91440"/>
          </a:xfrm>
          <a:prstGeom prst="ellipse">
            <a:avLst/>
          </a:prstGeom>
          <a:solidFill>
            <a:srgbClr val="E7C24E"/>
          </a:solidFill>
          <a:ln/>
        </p:spPr>
      </p:sp>
      <p:sp>
        <p:nvSpPr>
          <p:cNvPr id="9" name="Shape 7"/>
          <p:cNvSpPr/>
          <p:nvPr/>
        </p:nvSpPr>
        <p:spPr>
          <a:xfrm>
            <a:off x="2922880" y="2048256"/>
            <a:ext cx="91440" cy="91440"/>
          </a:xfrm>
          <a:prstGeom prst="ellipse">
            <a:avLst/>
          </a:prstGeom>
          <a:solidFill>
            <a:srgbClr val="3FB57E"/>
          </a:solidFill>
          <a:ln/>
        </p:spPr>
      </p:sp>
      <p:pic>
        <p:nvPicPr>
          <p:cNvPr id="10" name="Image 0" descr="/tmp/claude-0/-home-user-Sistema-PUMA/dfac1cc1-db02-5db8-bb7e-3953c2de29d6/scratchpad/deck/img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3968" y="2221992"/>
            <a:ext cx="7223760" cy="451485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83968" y="1965960"/>
            <a:ext cx="7223760" cy="4770882"/>
          </a:xfrm>
          <a:prstGeom prst="roundRect">
            <a:avLst>
              <a:gd name="adj" fmla="val 1533"/>
            </a:avLst>
          </a:prstGeom>
          <a:ln w="12700">
            <a:solidFill>
              <a:srgbClr val="D7DE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PUMA  •  PLATAFORMA EDUCACIONAL TÁTICA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ALUNO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Gamificação que mantém o aluno voltando todo dia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60520" y="1572768"/>
            <a:ext cx="7360920" cy="3313557"/>
          </a:xfrm>
          <a:prstGeom prst="roundRect">
            <a:avLst>
              <a:gd name="adj" fmla="val 220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60520" y="1572768"/>
            <a:ext cx="7360920" cy="256032"/>
          </a:xfrm>
          <a:prstGeom prst="roundRect">
            <a:avLst>
              <a:gd name="adj" fmla="val 28571"/>
            </a:avLst>
          </a:prstGeom>
          <a:solidFill>
            <a:srgbClr val="E7EBF3"/>
          </a:solidFill>
          <a:ln/>
        </p:spPr>
      </p:sp>
      <p:sp>
        <p:nvSpPr>
          <p:cNvPr id="6" name="Shape 4"/>
          <p:cNvSpPr/>
          <p:nvPr/>
        </p:nvSpPr>
        <p:spPr>
          <a:xfrm>
            <a:off x="4270248" y="1655064"/>
            <a:ext cx="91440" cy="91440"/>
          </a:xfrm>
          <a:prstGeom prst="ellipse">
            <a:avLst/>
          </a:prstGeom>
          <a:solidFill>
            <a:srgbClr val="E2685C"/>
          </a:solidFill>
          <a:ln/>
        </p:spPr>
      </p:sp>
      <p:sp>
        <p:nvSpPr>
          <p:cNvPr id="7" name="Shape 5"/>
          <p:cNvSpPr/>
          <p:nvPr/>
        </p:nvSpPr>
        <p:spPr>
          <a:xfrm>
            <a:off x="4434840" y="1655064"/>
            <a:ext cx="91440" cy="91440"/>
          </a:xfrm>
          <a:prstGeom prst="ellipse">
            <a:avLst/>
          </a:prstGeom>
          <a:solidFill>
            <a:srgbClr val="E7C24E"/>
          </a:solidFill>
          <a:ln/>
        </p:spPr>
      </p:sp>
      <p:sp>
        <p:nvSpPr>
          <p:cNvPr id="8" name="Shape 6"/>
          <p:cNvSpPr/>
          <p:nvPr/>
        </p:nvSpPr>
        <p:spPr>
          <a:xfrm>
            <a:off x="4599432" y="1655064"/>
            <a:ext cx="91440" cy="91440"/>
          </a:xfrm>
          <a:prstGeom prst="ellipse">
            <a:avLst/>
          </a:prstGeom>
          <a:solidFill>
            <a:srgbClr val="3FB57E"/>
          </a:solidFill>
          <a:ln/>
        </p:spPr>
      </p:sp>
      <p:pic>
        <p:nvPicPr>
          <p:cNvPr id="9" name="Image 0" descr="/tmp/claude-0/-home-user-Sistema-PUMA/dfac1cc1-db02-5db8-bb7e-3953c2de29d6/scratchpad/deck/img/painel_alu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828800"/>
            <a:ext cx="7360920" cy="305752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160520" y="1572768"/>
            <a:ext cx="7360920" cy="3313557"/>
          </a:xfrm>
          <a:prstGeom prst="roundRect">
            <a:avLst>
              <a:gd name="adj" fmla="val 2208"/>
            </a:avLst>
          </a:prstGeom>
          <a:ln w="12700">
            <a:solidFill>
              <a:srgbClr val="D7DE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1801368"/>
            <a:ext cx="82296" cy="822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168249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diária (streak) com metas e desbloqueios visuais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2642616"/>
            <a:ext cx="82296" cy="822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Text 11"/>
          <p:cNvSpPr/>
          <p:nvPr/>
        </p:nvSpPr>
        <p:spPr>
          <a:xfrm>
            <a:off x="896112" y="252374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geral da turma atualizado em tempo real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3483864"/>
            <a:ext cx="82296" cy="822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6" name="Text 13"/>
          <p:cNvSpPr/>
          <p:nvPr/>
        </p:nvSpPr>
        <p:spPr>
          <a:xfrm>
            <a:off x="896112" y="33649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Mural de brevês/medalhas por metas de desempenho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" y="4325112"/>
            <a:ext cx="82296" cy="822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8" name="Text 15"/>
          <p:cNvSpPr/>
          <p:nvPr/>
        </p:nvSpPr>
        <p:spPr>
          <a:xfrm>
            <a:off x="896112" y="4206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Caderno de erros automático para revisão focada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5166360"/>
            <a:ext cx="82296" cy="822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0" name="Text 17"/>
          <p:cNvSpPr/>
          <p:nvPr/>
        </p:nvSpPr>
        <p:spPr>
          <a:xfrm>
            <a:off x="896112" y="50474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de estudos por IA disponível 24h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PUMA  •  PLATAFORMA EDUCACIONAL TÁTICA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COMPLETA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 administrativo além da sala de aula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inventário de materiais didáticos e equipamentos ao histórico de auditoria de cada alteração — a plataforma também organiza a rotina administrativa da coordenação.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980944"/>
            <a:ext cx="82296" cy="822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8529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Inventário completo com categorias e estado dos itens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547872"/>
            <a:ext cx="82296" cy="822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34198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alterações para auditoria total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82296" cy="822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9867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Suspensão disciplinar e controle de turmas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681728"/>
            <a:ext cx="82296" cy="822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45537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de relatórios técnicos mensais em PDF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194560"/>
            <a:ext cx="5285232" cy="3394139"/>
          </a:xfrm>
          <a:prstGeom prst="roundRect">
            <a:avLst>
              <a:gd name="adj" fmla="val 215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2194560"/>
            <a:ext cx="5285232" cy="256032"/>
          </a:xfrm>
          <a:prstGeom prst="roundRect">
            <a:avLst>
              <a:gd name="adj" fmla="val 28571"/>
            </a:avLst>
          </a:prstGeom>
          <a:solidFill>
            <a:srgbClr val="E7EBF3"/>
          </a:solidFill>
          <a:ln/>
        </p:spPr>
      </p:sp>
      <p:sp>
        <p:nvSpPr>
          <p:cNvPr id="15" name="Shape 13"/>
          <p:cNvSpPr/>
          <p:nvPr/>
        </p:nvSpPr>
        <p:spPr>
          <a:xfrm>
            <a:off x="6373368" y="2276856"/>
            <a:ext cx="91440" cy="91440"/>
          </a:xfrm>
          <a:prstGeom prst="ellipse">
            <a:avLst/>
          </a:prstGeom>
          <a:solidFill>
            <a:srgbClr val="E2685C"/>
          </a:solidFill>
          <a:ln/>
        </p:spPr>
      </p:sp>
      <p:sp>
        <p:nvSpPr>
          <p:cNvPr id="16" name="Shape 14"/>
          <p:cNvSpPr/>
          <p:nvPr/>
        </p:nvSpPr>
        <p:spPr>
          <a:xfrm>
            <a:off x="6537960" y="2276856"/>
            <a:ext cx="91440" cy="91440"/>
          </a:xfrm>
          <a:prstGeom prst="ellipse">
            <a:avLst/>
          </a:prstGeom>
          <a:solidFill>
            <a:srgbClr val="E7C24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02552" y="2276856"/>
            <a:ext cx="91440" cy="91440"/>
          </a:xfrm>
          <a:prstGeom prst="ellipse">
            <a:avLst/>
          </a:prstGeom>
          <a:solidFill>
            <a:srgbClr val="3FB57E"/>
          </a:solidFill>
          <a:ln/>
        </p:spPr>
      </p:sp>
      <p:pic>
        <p:nvPicPr>
          <p:cNvPr id="18" name="Image 0" descr="/tmp/claude-0/-home-user-Sistema-PUMA/dfac1cc1-db02-5db8-bb7e-3953c2de29d6/scratchpad/deck/img/invent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2450592"/>
            <a:ext cx="5285232" cy="3138107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263640" y="2194560"/>
            <a:ext cx="5285232" cy="3394139"/>
          </a:xfrm>
          <a:prstGeom prst="roundRect">
            <a:avLst>
              <a:gd name="adj" fmla="val 2155"/>
            </a:avLst>
          </a:prstGeom>
          <a:ln w="12700">
            <a:solidFill>
              <a:srgbClr val="D7DE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PUMA  •  PLATAFORMA EDUCACIONAL TÁTICA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 O CAPÔ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 moderna, robusta e escalável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arquitetura que sustenta simulados simultâneos ao vivo para dezenas de alunos pode ser adaptada e hospedada com a identidade da sua instituição.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121B2E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46888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15+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907792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full-stack React de alta performance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52544" y="228600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121B2E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1144" y="246888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81144" y="2907792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 estática para estabilidade do código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65008" y="228600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121B2E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93608" y="246888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Socket.io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93608" y="2907792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para salas ao vivo em tempo real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22776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121B2E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105656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Prisma ORM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544568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relacional type-safe (SQL/Postgres)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52544" y="3922776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121B2E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1144" y="4105656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81144" y="4544568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 para simulados e mentoria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65008" y="3922776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121B2E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3608" y="4105656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Tailwind + shadcn/ui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93608" y="4544568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moderno com dark mode nativo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PUMA  •  PLATAFORMA EDUCACIONAL TÁTICA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INSTITUIÇÃO, SUA MARCA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sistema sob medida para o seu contexto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PUMA foi construído para a PMCE, mas a plataforma é adaptável a qualquer área de ensino de alta exigência: concursos públicos, cursinhos, faculdades, corporações e academias de formação.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56432" cy="37033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3456432" cy="566928"/>
          </a:xfrm>
          <a:prstGeom prst="roundRect">
            <a:avLst>
              <a:gd name="adj" fmla="val 14516"/>
            </a:avLst>
          </a:prstGeom>
          <a:solidFill>
            <a:srgbClr val="0B122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615184"/>
            <a:ext cx="3456432" cy="28346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31720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Identidade visual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59536" y="3214116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3108960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Logotipo, cores e brasão/mascote próprios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59536" y="4146804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060704" y="4041648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desbloqueáveis alinhados à sua marca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9536" y="5079492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1060704" y="4974336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e e-mail personalizados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52544" y="2331720"/>
            <a:ext cx="3456432" cy="37033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52544" y="2331720"/>
            <a:ext cx="3456432" cy="566928"/>
          </a:xfrm>
          <a:prstGeom prst="roundRect">
            <a:avLst>
              <a:gd name="adj" fmla="val 14516"/>
            </a:avLst>
          </a:prstGeom>
          <a:solidFill>
            <a:srgbClr val="0B1220"/>
          </a:solidFill>
          <a:ln/>
        </p:spPr>
      </p:sp>
      <p:sp>
        <p:nvSpPr>
          <p:cNvPr id="17" name="Shape 15"/>
          <p:cNvSpPr/>
          <p:nvPr/>
        </p:nvSpPr>
        <p:spPr>
          <a:xfrm>
            <a:off x="4352544" y="2615184"/>
            <a:ext cx="3456432" cy="28346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8" name="Text 16"/>
          <p:cNvSpPr/>
          <p:nvPr/>
        </p:nvSpPr>
        <p:spPr>
          <a:xfrm>
            <a:off x="4352544" y="2331720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 e regras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0" y="3214116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3108960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de questões e apostilas próprios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4146804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4041648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pontuação e gamificação ajustáveis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5079492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4974336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Disciplinas e módulos configuráveis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65008" y="2331720"/>
            <a:ext cx="3456432" cy="37033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65008" y="2331720"/>
            <a:ext cx="3456432" cy="566928"/>
          </a:xfrm>
          <a:prstGeom prst="roundRect">
            <a:avLst>
              <a:gd name="adj" fmla="val 14516"/>
            </a:avLst>
          </a:prstGeom>
          <a:solidFill>
            <a:srgbClr val="0B1220"/>
          </a:solidFill>
          <a:ln/>
        </p:spPr>
      </p:sp>
      <p:sp>
        <p:nvSpPr>
          <p:cNvPr id="27" name="Shape 25"/>
          <p:cNvSpPr/>
          <p:nvPr/>
        </p:nvSpPr>
        <p:spPr>
          <a:xfrm>
            <a:off x="8065008" y="2615184"/>
            <a:ext cx="3456432" cy="28346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331720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Infraestrutura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284464" y="3214116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8485632" y="3108960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dedicada (VPS) ou nuvem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84464" y="4146804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8485632" y="4041648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isolado por instituição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84464" y="5079492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8485632" y="4974336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técnico e atualizações contínuas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PUMA  •  PLATAFORMA EDUCACIONAL TÁTICA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caminho de implantação sob medida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6432" cy="4434840"/>
          </a:xfrm>
          <a:prstGeom prst="roundRect">
            <a:avLst>
              <a:gd name="adj" fmla="val 2381"/>
            </a:avLst>
          </a:prstGeom>
          <a:solidFill>
            <a:srgbClr val="121B2E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4767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ESSENCIAL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31343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turmas únicas ou piloto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2834640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Simulados ao vivo ilimitados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49300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07008" y="3493008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Gamificação e ranking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415137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07008" y="4151376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instrutor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480974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07008" y="4809744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turma / até 40 alunos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52544" y="1581912"/>
            <a:ext cx="3456432" cy="4654296"/>
          </a:xfrm>
          <a:prstGeom prst="roundRect">
            <a:avLst>
              <a:gd name="adj" fmla="val 2381"/>
            </a:avLst>
          </a:prstGeom>
          <a:solidFill>
            <a:srgbClr val="1E3A5F"/>
          </a:solidFill>
          <a:ln w="19050">
            <a:solidFill>
              <a:srgbClr val="D4AF37"/>
            </a:solidFill>
            <a:prstDash val="solid"/>
          </a:ln>
          <a:effectLst>
            <a:outerShdw sx="100000" sy="100000" kx="0" ky="0" algn="bl" rotWithShape="0" blurRad="254000" dist="101600" dir="54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0" y="143560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14356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ESCOLHIDO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837944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PROFISSIONAL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26864" y="2203704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escolas e cursinhos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26864" y="272491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2724912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do Essencial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26864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3383280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 de questões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26864" y="40416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9472" y="4041648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de estudos por IA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26864" y="47000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9472" y="4700016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turmas e relatórios PDF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65008" y="1691640"/>
            <a:ext cx="3456432" cy="4434840"/>
          </a:xfrm>
          <a:prstGeom prst="roundRect">
            <a:avLst>
              <a:gd name="adj" fmla="val 2381"/>
            </a:avLst>
          </a:prstGeom>
          <a:solidFill>
            <a:srgbClr val="121B2E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9328" y="194767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INSTITUCIONAL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339328" y="231343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academias e corporações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39328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31936" y="2834640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do Profissional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339328" y="349300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31936" y="3493008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 sob medida (white-label)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339328" y="415137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31936" y="4151376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dedicada e suporte prioritário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339328" y="480974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31936" y="4809744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e módulos personalizados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PUMA  •  PLATAFORMA EDUCACIONAL TÁTICA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pic>
        <p:nvPicPr>
          <p:cNvPr id="3" name="Image 0" descr="/tmp/claude-0/-home-user-Sistema-PUMA/dfac1cc1-db02-5db8-bb7e-3953c2de29d6/scratchpad/deck/img/hero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>
              <a:alpha val="7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9659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LEVAR ESSA EXPERIÊNCIA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 SUA INSTITUIÇÃO?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737360" y="35204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Agende uma demonstração ao vivo do Sistema PUMA e receba uma proposta de customização para a sua marca.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389120" y="4343400"/>
            <a:ext cx="3410712" cy="566928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8" name="Text 5"/>
          <p:cNvSpPr/>
          <p:nvPr/>
        </p:nvSpPr>
        <p:spPr>
          <a:xfrm>
            <a:off x="4389120" y="4343400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DEMONSTRAÇÃO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fernandoplaysson11@gmail.com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4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PUMA  •  32º Pelotão  •  CFSD PMCE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2026-08-26T14:30:27Z</dcterms:created>
  <dcterms:modified xsi:type="dcterms:W3CDTF">2026-08-26T14:30:27Z</dcterms:modified>
</cp:coreProperties>
</file>